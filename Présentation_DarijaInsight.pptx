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Arimo Bold" charset="1" panose="020B0704020202020204"/>
      <p:regular r:id="rId8"/>
    </p:embeddedFont>
    <p:embeddedFont>
      <p:font typeface="Arimo" charset="1" panose="020B0604020202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jpe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B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486"/>
            <a:ext cx="18288000" cy="38100"/>
            <a:chOff x="0" y="0"/>
            <a:chExt cx="24384000" cy="50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156" y="1171127"/>
            <a:ext cx="2454592" cy="400050"/>
            <a:chOff x="0" y="0"/>
            <a:chExt cx="327279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72789" cy="533400"/>
            </a:xfrm>
            <a:custGeom>
              <a:avLst/>
              <a:gdLst/>
              <a:ahLst/>
              <a:cxnLst/>
              <a:rect r="r" b="b" t="t" l="l"/>
              <a:pathLst>
                <a:path h="533400" w="3272789">
                  <a:moveTo>
                    <a:pt x="0" y="0"/>
                  </a:moveTo>
                  <a:lnTo>
                    <a:pt x="3272789" y="0"/>
                  </a:lnTo>
                  <a:lnTo>
                    <a:pt x="3272789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554" r="0" b="-6955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27279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b="true" sz="2440" spc="-61">
                  <a:solidFill>
                    <a:srgbClr val="4F7C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Darija</a:t>
              </a:r>
              <a:r>
                <a:rPr lang="en-US" b="true" sz="2440" spc="-61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Insight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99362" y="1289152"/>
            <a:ext cx="334480" cy="171450"/>
            <a:chOff x="0" y="0"/>
            <a:chExt cx="445973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5968" cy="228600"/>
            </a:xfrm>
            <a:custGeom>
              <a:avLst/>
              <a:gdLst/>
              <a:ahLst/>
              <a:cxnLst/>
              <a:rect r="r" b="b" t="t" l="l"/>
              <a:pathLst>
                <a:path h="228600" w="445968">
                  <a:moveTo>
                    <a:pt x="0" y="0"/>
                  </a:moveTo>
                  <a:lnTo>
                    <a:pt x="445968" y="0"/>
                  </a:lnTo>
                  <a:lnTo>
                    <a:pt x="445968" y="228600"/>
                  </a:lnTo>
                  <a:lnTo>
                    <a:pt x="0" y="228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66" t="0" r="-1576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45973" cy="238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00"/>
                </a:lnSpc>
              </a:pPr>
              <a:r>
                <a:rPr lang="en-US" b="true" sz="1000" spc="202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156" y="1947415"/>
            <a:ext cx="2373525" cy="228600"/>
            <a:chOff x="0" y="0"/>
            <a:chExt cx="3164700" cy="3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64701" cy="304800"/>
            </a:xfrm>
            <a:custGeom>
              <a:avLst/>
              <a:gdLst/>
              <a:ahLst/>
              <a:cxnLst/>
              <a:rect r="r" b="b" t="t" l="l"/>
              <a:pathLst>
                <a:path h="304800" w="3164701">
                  <a:moveTo>
                    <a:pt x="0" y="0"/>
                  </a:moveTo>
                  <a:lnTo>
                    <a:pt x="3164701" y="0"/>
                  </a:lnTo>
                  <a:lnTo>
                    <a:pt x="316470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310" r="0" b="-1523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1647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2"/>
                </a:lnSpc>
              </a:pPr>
              <a:r>
                <a:rPr lang="en-US" b="true" sz="1360" spc="438">
                  <a:solidFill>
                    <a:srgbClr val="8B93A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LE PROBLÈME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156" y="2318299"/>
            <a:ext cx="6934352" cy="866775"/>
            <a:chOff x="0" y="0"/>
            <a:chExt cx="9245803" cy="1155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45798" cy="1155701"/>
            </a:xfrm>
            <a:custGeom>
              <a:avLst/>
              <a:gdLst/>
              <a:ahLst/>
              <a:cxnLst/>
              <a:rect r="r" b="b" t="t" l="l"/>
              <a:pathLst>
                <a:path h="1155701" w="9245798">
                  <a:moveTo>
                    <a:pt x="0" y="0"/>
                  </a:moveTo>
                  <a:lnTo>
                    <a:pt x="9245798" y="0"/>
                  </a:lnTo>
                  <a:lnTo>
                    <a:pt x="9245798" y="1155701"/>
                  </a:lnTo>
                  <a:lnTo>
                    <a:pt x="0" y="1155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3" r="0" b="-1058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245803" cy="117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84"/>
                </a:lnSpc>
              </a:pPr>
              <a:r>
                <a:rPr lang="en-US" b="true" sz="5320" spc="-134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Comprenez enfin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156" y="3021959"/>
            <a:ext cx="7373150" cy="866775"/>
            <a:chOff x="0" y="0"/>
            <a:chExt cx="9830867" cy="1155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30872" cy="1155701"/>
            </a:xfrm>
            <a:custGeom>
              <a:avLst/>
              <a:gdLst/>
              <a:ahLst/>
              <a:cxnLst/>
              <a:rect r="r" b="b" t="t" l="l"/>
              <a:pathLst>
                <a:path h="1155701" w="9830872">
                  <a:moveTo>
                    <a:pt x="0" y="0"/>
                  </a:moveTo>
                  <a:lnTo>
                    <a:pt x="9830872" y="0"/>
                  </a:lnTo>
                  <a:lnTo>
                    <a:pt x="9830872" y="1155701"/>
                  </a:lnTo>
                  <a:lnTo>
                    <a:pt x="0" y="1155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747" r="0" b="-1157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830867" cy="117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84"/>
                </a:lnSpc>
              </a:pPr>
              <a:r>
                <a:rPr lang="en-US" b="true" sz="5320" spc="-134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ce que vos clients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156" y="3725618"/>
            <a:ext cx="8203749" cy="866775"/>
            <a:chOff x="0" y="0"/>
            <a:chExt cx="10938332" cy="1155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38331" cy="1155701"/>
            </a:xfrm>
            <a:custGeom>
              <a:avLst/>
              <a:gdLst/>
              <a:ahLst/>
              <a:cxnLst/>
              <a:rect r="r" b="b" t="t" l="l"/>
              <a:pathLst>
                <a:path h="1155701" w="10938331">
                  <a:moveTo>
                    <a:pt x="0" y="0"/>
                  </a:moveTo>
                  <a:lnTo>
                    <a:pt x="10938331" y="0"/>
                  </a:lnTo>
                  <a:lnTo>
                    <a:pt x="10938331" y="1155701"/>
                  </a:lnTo>
                  <a:lnTo>
                    <a:pt x="0" y="1155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419" r="0" b="-1344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938332" cy="117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84"/>
                </a:lnSpc>
              </a:pPr>
              <a:r>
                <a:rPr lang="en-US" b="true" sz="5320" spc="-134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pensent</a:t>
              </a:r>
              <a:r>
                <a:rPr lang="en-US" b="true" sz="5320" spc="-134">
                  <a:solidFill>
                    <a:srgbClr val="4F7C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réellement.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5004" y="4955162"/>
            <a:ext cx="76200" cy="76200"/>
            <a:chOff x="0" y="0"/>
            <a:chExt cx="101600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F7C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33500" y="4807591"/>
            <a:ext cx="10072154" cy="73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1939">
                <a:solidFill>
                  <a:srgbClr val="CCCFDC"/>
                </a:solidFill>
                <a:latin typeface="Arimo"/>
                <a:ea typeface="Arimo"/>
                <a:cs typeface="Arimo"/>
                <a:sym typeface="Arimo"/>
              </a:rPr>
              <a:t>Les entreprises marocaines reçoivent chaque jour des milliers d'avis</a:t>
            </a:r>
          </a:p>
          <a:p>
            <a:pPr algn="l">
              <a:lnSpc>
                <a:spcPts val="2674"/>
              </a:lnSpc>
            </a:pPr>
            <a:r>
              <a:rPr lang="en-US" sz="1939">
                <a:solidFill>
                  <a:srgbClr val="CCCFDC"/>
                </a:solidFill>
                <a:latin typeface="Arimo"/>
                <a:ea typeface="Arimo"/>
                <a:cs typeface="Arimo"/>
                <a:sym typeface="Arimo"/>
              </a:rPr>
              <a:t>en Darija.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5004" y="5788295"/>
            <a:ext cx="76200" cy="76200"/>
            <a:chOff x="0" y="0"/>
            <a:chExt cx="101600" cy="10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F7C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3500" y="5688359"/>
            <a:ext cx="6795430" cy="342900"/>
            <a:chOff x="0" y="0"/>
            <a:chExt cx="9060574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60576" cy="457200"/>
            </a:xfrm>
            <a:custGeom>
              <a:avLst/>
              <a:gdLst/>
              <a:ahLst/>
              <a:cxnLst/>
              <a:rect r="r" b="b" t="t" l="l"/>
              <a:pathLst>
                <a:path h="457200" w="9060576">
                  <a:moveTo>
                    <a:pt x="0" y="0"/>
                  </a:moveTo>
                  <a:lnTo>
                    <a:pt x="9060576" y="0"/>
                  </a:lnTo>
                  <a:lnTo>
                    <a:pt x="90605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145" r="0" b="-33614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060574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7"/>
                </a:lnSpc>
              </a:pPr>
              <a:r>
                <a:rPr lang="en-US" sz="1939">
                  <a:solidFill>
                    <a:srgbClr val="CCCFDC"/>
                  </a:solidFill>
                  <a:latin typeface="Arimo"/>
                  <a:ea typeface="Arimo"/>
                  <a:cs typeface="Arimo"/>
                  <a:sym typeface="Arimo"/>
                </a:rPr>
                <a:t>Ces avis sont difficiles à analyser rapidement.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5004" y="6281957"/>
            <a:ext cx="76200" cy="76200"/>
            <a:chOff x="0" y="0"/>
            <a:chExt cx="101600" cy="10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4F7C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33500" y="6182020"/>
            <a:ext cx="6450654" cy="342900"/>
            <a:chOff x="0" y="0"/>
            <a:chExt cx="8600872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00877" cy="457200"/>
            </a:xfrm>
            <a:custGeom>
              <a:avLst/>
              <a:gdLst/>
              <a:ahLst/>
              <a:cxnLst/>
              <a:rect r="r" b="b" t="t" l="l"/>
              <a:pathLst>
                <a:path h="457200" w="8600877">
                  <a:moveTo>
                    <a:pt x="0" y="0"/>
                  </a:moveTo>
                  <a:lnTo>
                    <a:pt x="8600877" y="0"/>
                  </a:lnTo>
                  <a:lnTo>
                    <a:pt x="860087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6553" r="0" b="-3165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600872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7"/>
                </a:lnSpc>
              </a:pPr>
              <a:r>
                <a:rPr lang="en-US" sz="1939">
                  <a:solidFill>
                    <a:srgbClr val="CCCFDC"/>
                  </a:solidFill>
                  <a:latin typeface="Arimo"/>
                  <a:ea typeface="Arimo"/>
                  <a:cs typeface="Arimo"/>
                  <a:sym typeface="Arimo"/>
                </a:rPr>
                <a:t>Des informations précieuses sont perdues.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1508" y="6918722"/>
            <a:ext cx="8058150" cy="2228850"/>
            <a:chOff x="0" y="0"/>
            <a:chExt cx="10744200" cy="2971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44200" cy="2971800"/>
            </a:xfrm>
            <a:custGeom>
              <a:avLst/>
              <a:gdLst/>
              <a:ahLst/>
              <a:cxnLst/>
              <a:rect r="r" b="b" t="t" l="l"/>
              <a:pathLst>
                <a:path h="2971800" w="10744200">
                  <a:moveTo>
                    <a:pt x="0" y="204089"/>
                  </a:moveTo>
                  <a:cubicBezTo>
                    <a:pt x="0" y="91313"/>
                    <a:pt x="91313" y="0"/>
                    <a:pt x="204089" y="0"/>
                  </a:cubicBezTo>
                  <a:lnTo>
                    <a:pt x="10540111" y="0"/>
                  </a:lnTo>
                  <a:cubicBezTo>
                    <a:pt x="10652887" y="0"/>
                    <a:pt x="10744200" y="91313"/>
                    <a:pt x="10744200" y="204089"/>
                  </a:cubicBezTo>
                  <a:lnTo>
                    <a:pt x="10744200" y="2767711"/>
                  </a:lnTo>
                  <a:cubicBezTo>
                    <a:pt x="10744200" y="2880360"/>
                    <a:pt x="10652887" y="2971800"/>
                    <a:pt x="10540111" y="2971800"/>
                  </a:cubicBezTo>
                  <a:lnTo>
                    <a:pt x="204089" y="2971800"/>
                  </a:lnTo>
                  <a:cubicBezTo>
                    <a:pt x="91313" y="2971800"/>
                    <a:pt x="0" y="2880487"/>
                    <a:pt x="0" y="2767711"/>
                  </a:cubicBezTo>
                  <a:close/>
                </a:path>
              </a:pathLst>
            </a:custGeom>
            <a:solidFill>
              <a:srgbClr val="0B1326">
                <a:alpha val="49020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35741" y="7187651"/>
            <a:ext cx="2336959" cy="228600"/>
            <a:chOff x="0" y="0"/>
            <a:chExt cx="3115945" cy="304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15944" cy="304800"/>
            </a:xfrm>
            <a:custGeom>
              <a:avLst/>
              <a:gdLst/>
              <a:ahLst/>
              <a:cxnLst/>
              <a:rect r="r" b="b" t="t" l="l"/>
              <a:pathLst>
                <a:path h="304800" w="3115944">
                  <a:moveTo>
                    <a:pt x="0" y="0"/>
                  </a:moveTo>
                  <a:lnTo>
                    <a:pt x="3115944" y="0"/>
                  </a:lnTo>
                  <a:lnTo>
                    <a:pt x="3115944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193" r="0" b="-14919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115945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2"/>
                </a:lnSpc>
              </a:pPr>
              <a:r>
                <a:rPr lang="en-US" b="true" sz="1360" spc="438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 SOLUTION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01568" y="8541991"/>
            <a:ext cx="845639" cy="247650"/>
            <a:chOff x="0" y="0"/>
            <a:chExt cx="1127519" cy="330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7523" cy="330200"/>
            </a:xfrm>
            <a:custGeom>
              <a:avLst/>
              <a:gdLst/>
              <a:ahLst/>
              <a:cxnLst/>
              <a:rect r="r" b="b" t="t" l="l"/>
              <a:pathLst>
                <a:path h="330200" w="1127523">
                  <a:moveTo>
                    <a:pt x="0" y="0"/>
                  </a:moveTo>
                  <a:lnTo>
                    <a:pt x="1127523" y="0"/>
                  </a:lnTo>
                  <a:lnTo>
                    <a:pt x="1127523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34" r="0" b="-1653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27519" cy="3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34D39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Positif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068536" y="8541991"/>
            <a:ext cx="901560" cy="247650"/>
            <a:chOff x="0" y="0"/>
            <a:chExt cx="1202080" cy="330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02075" cy="330200"/>
            </a:xfrm>
            <a:custGeom>
              <a:avLst/>
              <a:gdLst/>
              <a:ahLst/>
              <a:cxnLst/>
              <a:rect r="r" b="b" t="t" l="l"/>
              <a:pathLst>
                <a:path h="330200" w="1202075">
                  <a:moveTo>
                    <a:pt x="0" y="0"/>
                  </a:moveTo>
                  <a:lnTo>
                    <a:pt x="1202075" y="0"/>
                  </a:lnTo>
                  <a:lnTo>
                    <a:pt x="1202075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34" r="0" b="-209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202080" cy="3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FBBF2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Neutre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378528" y="8541991"/>
            <a:ext cx="954957" cy="247650"/>
            <a:chOff x="0" y="0"/>
            <a:chExt cx="1273277" cy="330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73275" cy="330200"/>
            </a:xfrm>
            <a:custGeom>
              <a:avLst/>
              <a:gdLst/>
              <a:ahLst/>
              <a:cxnLst/>
              <a:rect r="r" b="b" t="t" l="l"/>
              <a:pathLst>
                <a:path h="330200" w="1273275">
                  <a:moveTo>
                    <a:pt x="0" y="0"/>
                  </a:moveTo>
                  <a:lnTo>
                    <a:pt x="1273275" y="0"/>
                  </a:lnTo>
                  <a:lnTo>
                    <a:pt x="1273275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35" r="0" b="-251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273277" cy="3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F871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Négatif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20564" y="2162175"/>
            <a:ext cx="6219825" cy="5962650"/>
            <a:chOff x="0" y="0"/>
            <a:chExt cx="8293100" cy="795020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8293100" cy="7950200"/>
            </a:xfrm>
            <a:custGeom>
              <a:avLst/>
              <a:gdLst/>
              <a:ahLst/>
              <a:cxnLst/>
              <a:rect r="r" b="b" t="t" l="l"/>
              <a:pathLst>
                <a:path h="7950200" w="8293100">
                  <a:moveTo>
                    <a:pt x="0" y="0"/>
                  </a:moveTo>
                  <a:lnTo>
                    <a:pt x="8293100" y="0"/>
                  </a:lnTo>
                  <a:lnTo>
                    <a:pt x="8293100" y="7950200"/>
                  </a:lnTo>
                  <a:lnTo>
                    <a:pt x="0" y="795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962102" y="2766936"/>
            <a:ext cx="7324725" cy="4752975"/>
            <a:chOff x="0" y="0"/>
            <a:chExt cx="9766300" cy="63373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66300" cy="6337300"/>
            </a:xfrm>
            <a:custGeom>
              <a:avLst/>
              <a:gdLst/>
              <a:ahLst/>
              <a:cxnLst/>
              <a:rect r="r" b="b" t="t" l="l"/>
              <a:pathLst>
                <a:path h="6337300" w="9766300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lnTo>
                    <a:pt x="9473057" y="0"/>
                  </a:lnTo>
                  <a:cubicBezTo>
                    <a:pt x="9634982" y="0"/>
                    <a:pt x="9766300" y="131318"/>
                    <a:pt x="9766300" y="293243"/>
                  </a:cubicBezTo>
                  <a:lnTo>
                    <a:pt x="9766300" y="6044057"/>
                  </a:lnTo>
                  <a:cubicBezTo>
                    <a:pt x="9766300" y="6205982"/>
                    <a:pt x="9634982" y="6337300"/>
                    <a:pt x="9473057" y="6337300"/>
                  </a:cubicBezTo>
                  <a:lnTo>
                    <a:pt x="293243" y="6337300"/>
                  </a:lnTo>
                  <a:cubicBezTo>
                    <a:pt x="131318" y="6337300"/>
                    <a:pt x="0" y="6205982"/>
                    <a:pt x="0" y="6044057"/>
                  </a:cubicBezTo>
                  <a:close/>
                </a:path>
              </a:pathLst>
            </a:custGeom>
            <a:solidFill>
              <a:srgbClr val="0C1326"/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976399" y="2783157"/>
            <a:ext cx="7296150" cy="400050"/>
            <a:chOff x="0" y="0"/>
            <a:chExt cx="9728200" cy="533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28200" cy="533400"/>
            </a:xfrm>
            <a:custGeom>
              <a:avLst/>
              <a:gdLst/>
              <a:ahLst/>
              <a:cxnLst/>
              <a:rect r="r" b="b" t="t" l="l"/>
              <a:pathLst>
                <a:path h="533400" w="9728200">
                  <a:moveTo>
                    <a:pt x="0" y="0"/>
                  </a:moveTo>
                  <a:lnTo>
                    <a:pt x="9728200" y="0"/>
                  </a:lnTo>
                  <a:lnTo>
                    <a:pt x="97282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194798" y="2926032"/>
            <a:ext cx="104775" cy="104775"/>
            <a:chOff x="0" y="0"/>
            <a:chExt cx="139700" cy="139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cubicBezTo>
                    <a:pt x="108458" y="0"/>
                    <a:pt x="139700" y="31242"/>
                    <a:pt x="139700" y="69850"/>
                  </a:cubicBezTo>
                  <a:cubicBezTo>
                    <a:pt x="139700" y="108458"/>
                    <a:pt x="108458" y="139700"/>
                    <a:pt x="69850" y="139700"/>
                  </a:cubicBezTo>
                  <a:cubicBezTo>
                    <a:pt x="31242" y="139700"/>
                    <a:pt x="0" y="108458"/>
                    <a:pt x="0" y="69850"/>
                  </a:cubicBezTo>
                  <a:close/>
                </a:path>
              </a:pathLst>
            </a:custGeom>
            <a:solidFill>
              <a:srgbClr val="F87171">
                <a:alpha val="49020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389022" y="2926032"/>
            <a:ext cx="104775" cy="104775"/>
            <a:chOff x="0" y="0"/>
            <a:chExt cx="139700" cy="1397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cubicBezTo>
                    <a:pt x="108458" y="0"/>
                    <a:pt x="139700" y="31242"/>
                    <a:pt x="139700" y="69850"/>
                  </a:cubicBezTo>
                  <a:cubicBezTo>
                    <a:pt x="139700" y="108458"/>
                    <a:pt x="108458" y="139700"/>
                    <a:pt x="69850" y="139700"/>
                  </a:cubicBezTo>
                  <a:cubicBezTo>
                    <a:pt x="31242" y="139700"/>
                    <a:pt x="0" y="108458"/>
                    <a:pt x="0" y="69850"/>
                  </a:cubicBezTo>
                  <a:close/>
                </a:path>
              </a:pathLst>
            </a:custGeom>
            <a:solidFill>
              <a:srgbClr val="FBBF24">
                <a:alpha val="49020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583247" y="2926032"/>
            <a:ext cx="104775" cy="104775"/>
            <a:chOff x="0" y="0"/>
            <a:chExt cx="139700" cy="1397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cubicBezTo>
                    <a:pt x="108458" y="0"/>
                    <a:pt x="139700" y="31242"/>
                    <a:pt x="139700" y="69850"/>
                  </a:cubicBezTo>
                  <a:cubicBezTo>
                    <a:pt x="139700" y="108458"/>
                    <a:pt x="108458" y="139700"/>
                    <a:pt x="69850" y="139700"/>
                  </a:cubicBezTo>
                  <a:cubicBezTo>
                    <a:pt x="31242" y="139700"/>
                    <a:pt x="0" y="108458"/>
                    <a:pt x="0" y="69850"/>
                  </a:cubicBezTo>
                  <a:close/>
                </a:path>
              </a:pathLst>
            </a:custGeom>
            <a:solidFill>
              <a:srgbClr val="35D398">
                <a:alpha val="49020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976399" y="3181350"/>
            <a:ext cx="7296150" cy="4324350"/>
            <a:chOff x="0" y="0"/>
            <a:chExt cx="9728200" cy="5765800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728200" cy="5765800"/>
            </a:xfrm>
            <a:custGeom>
              <a:avLst/>
              <a:gdLst/>
              <a:ahLst/>
              <a:cxnLst/>
              <a:rect r="r" b="b" t="t" l="l"/>
              <a:pathLst>
                <a:path h="5765800" w="9728200">
                  <a:moveTo>
                    <a:pt x="0" y="0"/>
                  </a:moveTo>
                  <a:lnTo>
                    <a:pt x="9728200" y="0"/>
                  </a:lnTo>
                  <a:lnTo>
                    <a:pt x="9728200" y="5765800"/>
                  </a:lnTo>
                  <a:lnTo>
                    <a:pt x="0" y="576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259001" y="8164716"/>
            <a:ext cx="3486150" cy="1200150"/>
            <a:chOff x="0" y="0"/>
            <a:chExt cx="4648200" cy="1600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48200" cy="1600073"/>
            </a:xfrm>
            <a:custGeom>
              <a:avLst/>
              <a:gdLst/>
              <a:ahLst/>
              <a:cxnLst/>
              <a:rect r="r" b="b" t="t" l="l"/>
              <a:pathLst>
                <a:path h="1600073" w="4648200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402455" y="0"/>
                  </a:lnTo>
                  <a:cubicBezTo>
                    <a:pt x="4538218" y="0"/>
                    <a:pt x="4648200" y="109982"/>
                    <a:pt x="4648200" y="245745"/>
                  </a:cubicBezTo>
                  <a:lnTo>
                    <a:pt x="4648200" y="1354328"/>
                  </a:lnTo>
                  <a:cubicBezTo>
                    <a:pt x="4648200" y="1490091"/>
                    <a:pt x="4538218" y="1600073"/>
                    <a:pt x="4402455" y="1600073"/>
                  </a:cubicBezTo>
                  <a:lnTo>
                    <a:pt x="245745" y="1600073"/>
                  </a:lnTo>
                  <a:cubicBezTo>
                    <a:pt x="109982" y="1600200"/>
                    <a:pt x="0" y="1490218"/>
                    <a:pt x="0" y="1354455"/>
                  </a:cubicBezTo>
                  <a:close/>
                </a:path>
              </a:pathLst>
            </a:custGeom>
            <a:solidFill>
              <a:srgbClr val="0C1326">
                <a:alpha val="89804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3780103" y="8383486"/>
            <a:ext cx="3693814" cy="257175"/>
            <a:chOff x="0" y="0"/>
            <a:chExt cx="4925085" cy="3429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25080" cy="342901"/>
            </a:xfrm>
            <a:custGeom>
              <a:avLst/>
              <a:gdLst/>
              <a:ahLst/>
              <a:cxnLst/>
              <a:rect r="r" b="b" t="t" l="l"/>
              <a:pathLst>
                <a:path h="342901" w="4925080">
                  <a:moveTo>
                    <a:pt x="0" y="0"/>
                  </a:moveTo>
                  <a:lnTo>
                    <a:pt x="4925080" y="0"/>
                  </a:lnTo>
                  <a:lnTo>
                    <a:pt x="4925080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863" r="0" b="-22986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925085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23"/>
                </a:lnSpc>
              </a:pPr>
              <a:r>
                <a:rPr lang="ar-EG" sz="1520">
                  <a:solidFill>
                    <a:srgbClr val="D7DCE9"/>
                  </a:solidFill>
                  <a:latin typeface="Arimo"/>
                  <a:ea typeface="Arimo"/>
                  <a:cs typeface="Arimo"/>
                  <a:sym typeface="Arimo"/>
                  <a:rtl val="true"/>
                </a:rPr>
                <a:t>الخدمة زوينة بزاف ولكن الثمن غالي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849323" y="8861669"/>
            <a:ext cx="736130" cy="209550"/>
            <a:chOff x="0" y="0"/>
            <a:chExt cx="981507" cy="279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1512" cy="279400"/>
            </a:xfrm>
            <a:custGeom>
              <a:avLst/>
              <a:gdLst/>
              <a:ahLst/>
              <a:cxnLst/>
              <a:rect r="r" b="b" t="t" l="l"/>
              <a:pathLst>
                <a:path h="279400" w="981512">
                  <a:moveTo>
                    <a:pt x="0" y="0"/>
                  </a:moveTo>
                  <a:lnTo>
                    <a:pt x="981512" y="0"/>
                  </a:lnTo>
                  <a:lnTo>
                    <a:pt x="981512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49" r="0" b="-1844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981507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3"/>
                </a:lnSpc>
              </a:pPr>
              <a:r>
                <a:rPr lang="en-US" sz="1220" b="true">
                  <a:solidFill>
                    <a:srgbClr val="34D39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Positif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6416928" y="8856907"/>
            <a:ext cx="1488367" cy="209550"/>
            <a:chOff x="0" y="0"/>
            <a:chExt cx="1984489" cy="279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84493" cy="279400"/>
            </a:xfrm>
            <a:custGeom>
              <a:avLst/>
              <a:gdLst/>
              <a:ahLst/>
              <a:cxnLst/>
              <a:rect r="r" b="b" t="t" l="l"/>
              <a:pathLst>
                <a:path h="279400" w="1984493">
                  <a:moveTo>
                    <a:pt x="0" y="0"/>
                  </a:moveTo>
                  <a:lnTo>
                    <a:pt x="1984493" y="0"/>
                  </a:lnTo>
                  <a:lnTo>
                    <a:pt x="1984493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396" r="0" b="-8839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984489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3"/>
                </a:lnSpc>
              </a:pPr>
              <a:r>
                <a:rPr lang="en-US" sz="1220">
                  <a:solidFill>
                    <a:srgbClr val="8B93AB"/>
                  </a:solidFill>
                  <a:latin typeface="Arimo"/>
                  <a:ea typeface="Arimo"/>
                  <a:cs typeface="Arimo"/>
                  <a:sym typeface="Arimo"/>
                </a:rPr>
                <a:t>Confiance </a:t>
              </a:r>
              <a:r>
                <a:rPr lang="en-US" sz="1220" b="true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91%</a:t>
              </a:r>
            </a:p>
          </p:txBody>
        </p:sp>
      </p:grpSp>
      <p:sp>
        <p:nvSpPr>
          <p:cNvPr name="Freeform 78" id="78" descr="preencoded.png"/>
          <p:cNvSpPr/>
          <p:nvPr/>
        </p:nvSpPr>
        <p:spPr>
          <a:xfrm flipH="false" flipV="false" rot="0">
            <a:off x="9976399" y="2783157"/>
            <a:ext cx="7296150" cy="400050"/>
          </a:xfrm>
          <a:custGeom>
            <a:avLst/>
            <a:gdLst/>
            <a:ahLst/>
            <a:cxnLst/>
            <a:rect r="r" b="b" t="t" l="l"/>
            <a:pathLst>
              <a:path h="400050" w="7296150">
                <a:moveTo>
                  <a:pt x="0" y="0"/>
                </a:moveTo>
                <a:lnTo>
                  <a:pt x="7296150" y="0"/>
                </a:lnTo>
                <a:lnTo>
                  <a:pt x="72961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3511664" y="403945"/>
            <a:ext cx="2490413" cy="970932"/>
          </a:xfrm>
          <a:custGeom>
            <a:avLst/>
            <a:gdLst/>
            <a:ahLst/>
            <a:cxnLst/>
            <a:rect r="r" b="b" t="t" l="l"/>
            <a:pathLst>
              <a:path h="970932" w="2490413">
                <a:moveTo>
                  <a:pt x="0" y="0"/>
                </a:moveTo>
                <a:lnTo>
                  <a:pt x="2490412" y="0"/>
                </a:lnTo>
                <a:lnTo>
                  <a:pt x="2490412" y="970932"/>
                </a:lnTo>
                <a:lnTo>
                  <a:pt x="0" y="9709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6416928" y="244204"/>
            <a:ext cx="1428102" cy="1260746"/>
          </a:xfrm>
          <a:custGeom>
            <a:avLst/>
            <a:gdLst/>
            <a:ahLst/>
            <a:cxnLst/>
            <a:rect r="r" b="b" t="t" l="l"/>
            <a:pathLst>
              <a:path h="1260746" w="1428102">
                <a:moveTo>
                  <a:pt x="0" y="0"/>
                </a:moveTo>
                <a:lnTo>
                  <a:pt x="1428102" y="0"/>
                </a:lnTo>
                <a:lnTo>
                  <a:pt x="1428102" y="1260746"/>
                </a:lnTo>
                <a:lnTo>
                  <a:pt x="0" y="1260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435741" y="7525350"/>
            <a:ext cx="9035501" cy="717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880" b="true">
                <a:solidFill>
                  <a:srgbClr val="EEF2FF"/>
                </a:solidFill>
                <a:latin typeface="Arimo Bold"/>
                <a:ea typeface="Arimo Bold"/>
                <a:cs typeface="Arimo Bold"/>
                <a:sym typeface="Arimo Bold"/>
              </a:rPr>
              <a:t>DarijaInsight</a:t>
            </a:r>
            <a:r>
              <a:rPr lang="en-US" sz="188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 analyse automatiquement chaque avis et indique</a:t>
            </a:r>
          </a:p>
          <a:p>
            <a:pPr algn="l">
              <a:lnSpc>
                <a:spcPts val="2648"/>
              </a:lnSpc>
            </a:pPr>
            <a:r>
              <a:rPr lang="en-US" sz="188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instantanément son sentiment.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B1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486"/>
            <a:ext cx="18288000" cy="38100"/>
            <a:chOff x="0" y="0"/>
            <a:chExt cx="24384000" cy="50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156" y="729558"/>
            <a:ext cx="3518716" cy="228600"/>
            <a:chOff x="0" y="0"/>
            <a:chExt cx="4691621" cy="304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1619" cy="304800"/>
            </a:xfrm>
            <a:custGeom>
              <a:avLst/>
              <a:gdLst/>
              <a:ahLst/>
              <a:cxnLst/>
              <a:rect r="r" b="b" t="t" l="l"/>
              <a:pathLst>
                <a:path h="304800" w="4691619">
                  <a:moveTo>
                    <a:pt x="0" y="0"/>
                  </a:moveTo>
                  <a:lnTo>
                    <a:pt x="4691619" y="0"/>
                  </a:lnTo>
                  <a:lnTo>
                    <a:pt x="469161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922" r="0" b="-2499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691621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32"/>
                </a:lnSpc>
              </a:pPr>
              <a:r>
                <a:rPr lang="en-US" b="true" sz="1360" spc="438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 VALEUR AJOUTÉE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156" y="1038673"/>
            <a:ext cx="12312415" cy="838200"/>
            <a:chOff x="0" y="0"/>
            <a:chExt cx="16416553" cy="111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16555" cy="1117600"/>
            </a:xfrm>
            <a:custGeom>
              <a:avLst/>
              <a:gdLst/>
              <a:ahLst/>
              <a:cxnLst/>
              <a:rect r="r" b="b" t="t" l="l"/>
              <a:pathLst>
                <a:path h="1117600" w="16416555">
                  <a:moveTo>
                    <a:pt x="0" y="0"/>
                  </a:moveTo>
                  <a:lnTo>
                    <a:pt x="16416555" y="0"/>
                  </a:lnTo>
                  <a:lnTo>
                    <a:pt x="16416555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217" r="0" b="-23621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16553" cy="115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16"/>
                </a:lnSpc>
              </a:pPr>
              <a:r>
                <a:rPr lang="en-US" b="true" sz="5180" spc="-129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Pourquoi choisir</a:t>
              </a:r>
              <a:r>
                <a:rPr lang="en-US" b="true" sz="5180" spc="-129">
                  <a:solidFill>
                    <a:srgbClr val="4F7C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DarijaInsight</a:t>
              </a:r>
              <a:r>
                <a:rPr lang="en-US" b="true" sz="5180" spc="-129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01798" y="1080792"/>
            <a:ext cx="2180053" cy="342900"/>
            <a:chOff x="0" y="0"/>
            <a:chExt cx="2906738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6733" cy="457200"/>
            </a:xfrm>
            <a:custGeom>
              <a:avLst/>
              <a:gdLst/>
              <a:ahLst/>
              <a:cxnLst/>
              <a:rect r="r" b="b" t="t" l="l"/>
              <a:pathLst>
                <a:path h="457200" w="2906733">
                  <a:moveTo>
                    <a:pt x="0" y="0"/>
                  </a:moveTo>
                  <a:lnTo>
                    <a:pt x="2906733" y="0"/>
                  </a:lnTo>
                  <a:lnTo>
                    <a:pt x="2906733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879" r="0" b="-738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90673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b="true" sz="2160" spc="-54">
                  <a:solidFill>
                    <a:srgbClr val="4F7C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Darija</a:t>
              </a:r>
              <a:r>
                <a:rPr lang="en-US" b="true" sz="2160" spc="-54">
                  <a:solidFill>
                    <a:srgbClr val="EEF2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Insight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2022" y="2204514"/>
            <a:ext cx="4371975" cy="1666875"/>
            <a:chOff x="0" y="0"/>
            <a:chExt cx="5829300" cy="2222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293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5829300">
                  <a:moveTo>
                    <a:pt x="0" y="204343"/>
                  </a:moveTo>
                  <a:cubicBezTo>
                    <a:pt x="0" y="91440"/>
                    <a:pt x="91440" y="0"/>
                    <a:pt x="204343" y="0"/>
                  </a:cubicBezTo>
                  <a:lnTo>
                    <a:pt x="5624957" y="0"/>
                  </a:lnTo>
                  <a:cubicBezTo>
                    <a:pt x="5737860" y="0"/>
                    <a:pt x="5829300" y="91440"/>
                    <a:pt x="5829300" y="204343"/>
                  </a:cubicBezTo>
                  <a:lnTo>
                    <a:pt x="5829300" y="2018157"/>
                  </a:lnTo>
                  <a:cubicBezTo>
                    <a:pt x="5829300" y="2131060"/>
                    <a:pt x="5737860" y="2222500"/>
                    <a:pt x="5624957" y="2222500"/>
                  </a:cubicBezTo>
                  <a:lnTo>
                    <a:pt x="204343" y="2222500"/>
                  </a:lnTo>
                  <a:cubicBezTo>
                    <a:pt x="91440" y="2222500"/>
                    <a:pt x="0" y="2131060"/>
                    <a:pt x="0" y="2018157"/>
                  </a:cubicBezTo>
                  <a:close/>
                </a:path>
              </a:pathLst>
            </a:custGeom>
            <a:solidFill>
              <a:srgbClr val="0B1326">
                <a:alpha val="49020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280" y="2512809"/>
            <a:ext cx="506673" cy="342900"/>
            <a:chOff x="0" y="0"/>
            <a:chExt cx="675564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5560" cy="457200"/>
            </a:xfrm>
            <a:custGeom>
              <a:avLst/>
              <a:gdLst/>
              <a:ahLst/>
              <a:cxnLst/>
              <a:rect r="r" b="b" t="t" l="l"/>
              <a:pathLst>
                <a:path h="457200" w="675560">
                  <a:moveTo>
                    <a:pt x="0" y="0"/>
                  </a:moveTo>
                  <a:lnTo>
                    <a:pt x="675560" y="0"/>
                  </a:lnTo>
                  <a:lnTo>
                    <a:pt x="6755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831" t="0" r="-3683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75564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b="true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99280" y="2950816"/>
            <a:ext cx="4792561" cy="63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Comprendre les attentes réelles des</a:t>
            </a:r>
          </a:p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clients.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46404" y="2204514"/>
            <a:ext cx="4371975" cy="1666875"/>
            <a:chOff x="0" y="0"/>
            <a:chExt cx="5829300" cy="2222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293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5829300">
                  <a:moveTo>
                    <a:pt x="0" y="204343"/>
                  </a:moveTo>
                  <a:cubicBezTo>
                    <a:pt x="0" y="91440"/>
                    <a:pt x="91440" y="0"/>
                    <a:pt x="204343" y="0"/>
                  </a:cubicBezTo>
                  <a:lnTo>
                    <a:pt x="5624957" y="0"/>
                  </a:lnTo>
                  <a:cubicBezTo>
                    <a:pt x="5737860" y="0"/>
                    <a:pt x="5829300" y="91440"/>
                    <a:pt x="5829300" y="204343"/>
                  </a:cubicBezTo>
                  <a:lnTo>
                    <a:pt x="5829300" y="2018157"/>
                  </a:lnTo>
                  <a:cubicBezTo>
                    <a:pt x="5829300" y="2131060"/>
                    <a:pt x="5737860" y="2222500"/>
                    <a:pt x="5624957" y="2222500"/>
                  </a:cubicBezTo>
                  <a:lnTo>
                    <a:pt x="204343" y="2222500"/>
                  </a:lnTo>
                  <a:cubicBezTo>
                    <a:pt x="91440" y="2222500"/>
                    <a:pt x="0" y="2131060"/>
                    <a:pt x="0" y="2018157"/>
                  </a:cubicBezTo>
                  <a:close/>
                </a:path>
              </a:pathLst>
            </a:custGeom>
            <a:solidFill>
              <a:srgbClr val="0B1326">
                <a:alpha val="49020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053585" y="2512809"/>
            <a:ext cx="557365" cy="342900"/>
            <a:chOff x="0" y="0"/>
            <a:chExt cx="743153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149" cy="457200"/>
            </a:xfrm>
            <a:custGeom>
              <a:avLst/>
              <a:gdLst/>
              <a:ahLst/>
              <a:cxnLst/>
              <a:rect r="r" b="b" t="t" l="l"/>
              <a:pathLst>
                <a:path h="457200" w="743149">
                  <a:moveTo>
                    <a:pt x="0" y="0"/>
                  </a:moveTo>
                  <a:lnTo>
                    <a:pt x="743149" y="0"/>
                  </a:lnTo>
                  <a:lnTo>
                    <a:pt x="74314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934" t="0" r="-2893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43153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b="true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053585" y="2950816"/>
            <a:ext cx="3817439" cy="63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Identifier rapidement les avis</a:t>
            </a:r>
          </a:p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négatifs.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2022" y="4158482"/>
            <a:ext cx="4371975" cy="1666875"/>
            <a:chOff x="0" y="0"/>
            <a:chExt cx="5829300" cy="2222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293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5829300">
                  <a:moveTo>
                    <a:pt x="0" y="204343"/>
                  </a:moveTo>
                  <a:cubicBezTo>
                    <a:pt x="0" y="91440"/>
                    <a:pt x="91440" y="0"/>
                    <a:pt x="204343" y="0"/>
                  </a:cubicBezTo>
                  <a:lnTo>
                    <a:pt x="5624957" y="0"/>
                  </a:lnTo>
                  <a:cubicBezTo>
                    <a:pt x="5737860" y="0"/>
                    <a:pt x="5829300" y="91440"/>
                    <a:pt x="5829300" y="204343"/>
                  </a:cubicBezTo>
                  <a:lnTo>
                    <a:pt x="5829300" y="2018157"/>
                  </a:lnTo>
                  <a:cubicBezTo>
                    <a:pt x="5829300" y="2131060"/>
                    <a:pt x="5737860" y="2222500"/>
                    <a:pt x="5624957" y="2222500"/>
                  </a:cubicBezTo>
                  <a:lnTo>
                    <a:pt x="204343" y="2222500"/>
                  </a:lnTo>
                  <a:cubicBezTo>
                    <a:pt x="91440" y="2222500"/>
                    <a:pt x="0" y="2131060"/>
                    <a:pt x="0" y="2018157"/>
                  </a:cubicBezTo>
                  <a:close/>
                </a:path>
              </a:pathLst>
            </a:custGeom>
            <a:solidFill>
              <a:srgbClr val="0B1326">
                <a:alpha val="49020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99280" y="4466777"/>
            <a:ext cx="562194" cy="342900"/>
            <a:chOff x="0" y="0"/>
            <a:chExt cx="749592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9597" cy="457200"/>
            </a:xfrm>
            <a:custGeom>
              <a:avLst/>
              <a:gdLst/>
              <a:ahLst/>
              <a:cxnLst/>
              <a:rect r="r" b="b" t="t" l="l"/>
              <a:pathLst>
                <a:path h="457200" w="749597">
                  <a:moveTo>
                    <a:pt x="0" y="0"/>
                  </a:moveTo>
                  <a:lnTo>
                    <a:pt x="749597" y="0"/>
                  </a:lnTo>
                  <a:lnTo>
                    <a:pt x="74959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256" t="0" r="-2825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4959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b="true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99280" y="4952400"/>
            <a:ext cx="4078443" cy="295275"/>
            <a:chOff x="0" y="0"/>
            <a:chExt cx="5437924" cy="393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37923" cy="393699"/>
            </a:xfrm>
            <a:custGeom>
              <a:avLst/>
              <a:gdLst/>
              <a:ahLst/>
              <a:cxnLst/>
              <a:rect r="r" b="b" t="t" l="l"/>
              <a:pathLst>
                <a:path h="393699" w="5437923">
                  <a:moveTo>
                    <a:pt x="0" y="0"/>
                  </a:moveTo>
                  <a:lnTo>
                    <a:pt x="5437923" y="0"/>
                  </a:lnTo>
                  <a:lnTo>
                    <a:pt x="5437923" y="393699"/>
                  </a:lnTo>
                  <a:lnTo>
                    <a:pt x="0" y="3936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135" r="0" b="-2191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437924" cy="41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7DBE9"/>
                  </a:solidFill>
                  <a:latin typeface="Arimo"/>
                  <a:ea typeface="Arimo"/>
                  <a:cs typeface="Arimo"/>
                  <a:sym typeface="Arimo"/>
                </a:rPr>
                <a:t>Améliorer la satisfaction client.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746404" y="4158482"/>
            <a:ext cx="4371975" cy="1666875"/>
            <a:chOff x="0" y="0"/>
            <a:chExt cx="5829300" cy="2222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293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5829300">
                  <a:moveTo>
                    <a:pt x="0" y="204343"/>
                  </a:moveTo>
                  <a:cubicBezTo>
                    <a:pt x="0" y="91440"/>
                    <a:pt x="91440" y="0"/>
                    <a:pt x="204343" y="0"/>
                  </a:cubicBezTo>
                  <a:lnTo>
                    <a:pt x="5624957" y="0"/>
                  </a:lnTo>
                  <a:cubicBezTo>
                    <a:pt x="5737860" y="0"/>
                    <a:pt x="5829300" y="91440"/>
                    <a:pt x="5829300" y="204343"/>
                  </a:cubicBezTo>
                  <a:lnTo>
                    <a:pt x="5829300" y="2018157"/>
                  </a:lnTo>
                  <a:cubicBezTo>
                    <a:pt x="5829300" y="2131060"/>
                    <a:pt x="5737860" y="2222500"/>
                    <a:pt x="5624957" y="2222500"/>
                  </a:cubicBezTo>
                  <a:lnTo>
                    <a:pt x="204343" y="2222500"/>
                  </a:lnTo>
                  <a:cubicBezTo>
                    <a:pt x="91440" y="2222500"/>
                    <a:pt x="0" y="2131060"/>
                    <a:pt x="0" y="2018157"/>
                  </a:cubicBezTo>
                  <a:close/>
                </a:path>
              </a:pathLst>
            </a:custGeom>
            <a:solidFill>
              <a:srgbClr val="0B1326">
                <a:alpha val="49020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053585" y="4466777"/>
            <a:ext cx="572262" cy="342900"/>
            <a:chOff x="0" y="0"/>
            <a:chExt cx="763016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3013" cy="457200"/>
            </a:xfrm>
            <a:custGeom>
              <a:avLst/>
              <a:gdLst/>
              <a:ahLst/>
              <a:cxnLst/>
              <a:rect r="r" b="b" t="t" l="l"/>
              <a:pathLst>
                <a:path h="457200" w="763013">
                  <a:moveTo>
                    <a:pt x="0" y="0"/>
                  </a:moveTo>
                  <a:lnTo>
                    <a:pt x="763013" y="0"/>
                  </a:lnTo>
                  <a:lnTo>
                    <a:pt x="763013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79" t="0" r="-2688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763016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b="true">
                  <a:solidFill>
                    <a:srgbClr val="2DD4B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053585" y="4904775"/>
            <a:ext cx="4884658" cy="63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Prendre de meilleures décisions, plus</a:t>
            </a:r>
          </a:p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D7DBE9"/>
                </a:solidFill>
                <a:latin typeface="Arimo"/>
                <a:ea typeface="Arimo"/>
                <a:cs typeface="Arimo"/>
                <a:sym typeface="Arimo"/>
              </a:rPr>
              <a:t>vite.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95156" y="6806432"/>
            <a:ext cx="9020175" cy="1590675"/>
            <a:chOff x="0" y="0"/>
            <a:chExt cx="12026900" cy="212090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12026900" cy="2120900"/>
            </a:xfrm>
            <a:custGeom>
              <a:avLst/>
              <a:gdLst/>
              <a:ahLst/>
              <a:cxnLst/>
              <a:rect r="r" b="b" t="t" l="l"/>
              <a:pathLst>
                <a:path h="2120900" w="12026900">
                  <a:moveTo>
                    <a:pt x="0" y="0"/>
                  </a:moveTo>
                  <a:lnTo>
                    <a:pt x="12026900" y="0"/>
                  </a:lnTo>
                  <a:lnTo>
                    <a:pt x="12026900" y="2120900"/>
                  </a:lnTo>
                  <a:lnTo>
                    <a:pt x="0" y="212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35741" y="7241677"/>
            <a:ext cx="708470" cy="704850"/>
            <a:chOff x="0" y="0"/>
            <a:chExt cx="944626" cy="939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44621" cy="939800"/>
            </a:xfrm>
            <a:custGeom>
              <a:avLst/>
              <a:gdLst/>
              <a:ahLst/>
              <a:cxnLst/>
              <a:rect r="r" b="b" t="t" l="l"/>
              <a:pathLst>
                <a:path h="939800" w="944621">
                  <a:moveTo>
                    <a:pt x="0" y="0"/>
                  </a:moveTo>
                  <a:lnTo>
                    <a:pt x="944621" y="0"/>
                  </a:lnTo>
                  <a:lnTo>
                    <a:pt x="944621" y="939800"/>
                  </a:lnTo>
                  <a:lnTo>
                    <a:pt x="0" y="939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7648" t="0" r="-77648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44626" cy="949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320" b="true">
                  <a:solidFill>
                    <a:srgbClr val="38BD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∞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48783" y="7132444"/>
            <a:ext cx="2700890" cy="219075"/>
            <a:chOff x="0" y="0"/>
            <a:chExt cx="3601187" cy="2921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01184" cy="292099"/>
            </a:xfrm>
            <a:custGeom>
              <a:avLst/>
              <a:gdLst/>
              <a:ahLst/>
              <a:cxnLst/>
              <a:rect r="r" b="b" t="t" l="l"/>
              <a:pathLst>
                <a:path h="292099" w="3601184">
                  <a:moveTo>
                    <a:pt x="0" y="0"/>
                  </a:moveTo>
                  <a:lnTo>
                    <a:pt x="3601184" y="0"/>
                  </a:lnTo>
                  <a:lnTo>
                    <a:pt x="3601184" y="292099"/>
                  </a:lnTo>
                  <a:lnTo>
                    <a:pt x="0" y="2920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224" r="0" b="-19022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601187" cy="31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0"/>
                </a:lnSpc>
              </a:pPr>
              <a:r>
                <a:rPr lang="en-US" b="true" sz="1300" spc="361">
                  <a:solidFill>
                    <a:srgbClr val="8B93A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NOTRE AMBITION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148783" y="7404344"/>
            <a:ext cx="933771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800">
                <a:solidFill>
                  <a:srgbClr val="D7DBE8"/>
                </a:solidFill>
                <a:latin typeface="Arimo"/>
                <a:ea typeface="Arimo"/>
                <a:cs typeface="Arimo"/>
                <a:sym typeface="Arimo"/>
              </a:rPr>
              <a:t>Faire de DarijaInsight la solution de référence pour l'analyse des avis</a:t>
            </a:r>
          </a:p>
          <a:p>
            <a:pPr algn="l">
              <a:lnSpc>
                <a:spcPts val="2476"/>
              </a:lnSpc>
            </a:pPr>
            <a:r>
              <a:rPr lang="en-US" sz="1800">
                <a:solidFill>
                  <a:srgbClr val="D7DBE8"/>
                </a:solidFill>
                <a:latin typeface="Arimo"/>
                <a:ea typeface="Arimo"/>
                <a:cs typeface="Arimo"/>
                <a:sym typeface="Arimo"/>
              </a:rPr>
              <a:t>clients en Darija au Maroc.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659294" y="2200723"/>
            <a:ext cx="6534150" cy="3467100"/>
            <a:chOff x="0" y="0"/>
            <a:chExt cx="8712200" cy="462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12200" cy="4622800"/>
            </a:xfrm>
            <a:custGeom>
              <a:avLst/>
              <a:gdLst/>
              <a:ahLst/>
              <a:cxnLst/>
              <a:rect r="r" b="b" t="t" l="l"/>
              <a:pathLst>
                <a:path h="4622800" w="8712200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8418830" y="0"/>
                  </a:lnTo>
                  <a:cubicBezTo>
                    <a:pt x="8580882" y="0"/>
                    <a:pt x="8712200" y="131318"/>
                    <a:pt x="8712200" y="293370"/>
                  </a:cubicBezTo>
                  <a:lnTo>
                    <a:pt x="8712200" y="4329430"/>
                  </a:lnTo>
                  <a:cubicBezTo>
                    <a:pt x="8712200" y="4491482"/>
                    <a:pt x="8580882" y="4622800"/>
                    <a:pt x="8418830" y="4622800"/>
                  </a:cubicBezTo>
                  <a:lnTo>
                    <a:pt x="293370" y="4622800"/>
                  </a:lnTo>
                  <a:cubicBezTo>
                    <a:pt x="131318" y="4622800"/>
                    <a:pt x="0" y="4491482"/>
                    <a:pt x="0" y="4329430"/>
                  </a:cubicBezTo>
                  <a:close/>
                </a:path>
              </a:pathLst>
            </a:custGeom>
            <a:solidFill>
              <a:srgbClr val="0C1326"/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673582" y="2215010"/>
            <a:ext cx="6505575" cy="352425"/>
            <a:chOff x="0" y="0"/>
            <a:chExt cx="8674100" cy="4699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74100" cy="469900"/>
            </a:xfrm>
            <a:custGeom>
              <a:avLst/>
              <a:gdLst/>
              <a:ahLst/>
              <a:cxnLst/>
              <a:rect r="r" b="b" t="t" l="l"/>
              <a:pathLst>
                <a:path h="469900" w="8674100">
                  <a:moveTo>
                    <a:pt x="0" y="0"/>
                  </a:moveTo>
                  <a:lnTo>
                    <a:pt x="8674100" y="0"/>
                  </a:lnTo>
                  <a:lnTo>
                    <a:pt x="8674100" y="469900"/>
                  </a:lnTo>
                  <a:lnTo>
                    <a:pt x="0" y="4699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871149" y="2338835"/>
            <a:ext cx="95250" cy="95250"/>
            <a:chOff x="0" y="0"/>
            <a:chExt cx="127000" cy="127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F87171">
                <a:alpha val="49020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055106" y="2338835"/>
            <a:ext cx="95250" cy="95250"/>
            <a:chOff x="0" y="0"/>
            <a:chExt cx="127000" cy="127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FBBF24">
                <a:alpha val="49020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239052" y="2338835"/>
            <a:ext cx="95250" cy="95250"/>
            <a:chOff x="0" y="0"/>
            <a:chExt cx="127000" cy="127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cubicBezTo>
                    <a:pt x="98552" y="0"/>
                    <a:pt x="127000" y="28448"/>
                    <a:pt x="127000" y="63500"/>
                  </a:cubicBezTo>
                  <a:cubicBezTo>
                    <a:pt x="127000" y="98552"/>
                    <a:pt x="98552" y="127000"/>
                    <a:pt x="63500" y="127000"/>
                  </a:cubicBez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35D398">
                <a:alpha val="49020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673582" y="2565644"/>
            <a:ext cx="6505575" cy="3086100"/>
            <a:chOff x="0" y="0"/>
            <a:chExt cx="8674100" cy="41148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86741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8674100">
                  <a:moveTo>
                    <a:pt x="0" y="0"/>
                  </a:moveTo>
                  <a:lnTo>
                    <a:pt x="8674100" y="0"/>
                  </a:lnTo>
                  <a:lnTo>
                    <a:pt x="86741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659294" y="5905576"/>
            <a:ext cx="6534150" cy="2495550"/>
            <a:chOff x="0" y="0"/>
            <a:chExt cx="8712200" cy="3327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122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8712200">
                  <a:moveTo>
                    <a:pt x="0" y="203962"/>
                  </a:moveTo>
                  <a:cubicBezTo>
                    <a:pt x="0" y="91313"/>
                    <a:pt x="91313" y="0"/>
                    <a:pt x="203962" y="0"/>
                  </a:cubicBezTo>
                  <a:lnTo>
                    <a:pt x="8508238" y="0"/>
                  </a:lnTo>
                  <a:cubicBezTo>
                    <a:pt x="8620887" y="0"/>
                    <a:pt x="8712200" y="91313"/>
                    <a:pt x="8712200" y="203962"/>
                  </a:cubicBezTo>
                  <a:lnTo>
                    <a:pt x="8712200" y="3123438"/>
                  </a:lnTo>
                  <a:cubicBezTo>
                    <a:pt x="8712200" y="3236087"/>
                    <a:pt x="8620887" y="3327400"/>
                    <a:pt x="8508238" y="3327400"/>
                  </a:cubicBezTo>
                  <a:lnTo>
                    <a:pt x="203962" y="3327400"/>
                  </a:lnTo>
                  <a:cubicBezTo>
                    <a:pt x="91313" y="3327400"/>
                    <a:pt x="0" y="3236087"/>
                    <a:pt x="0" y="3123438"/>
                  </a:cubicBezTo>
                  <a:close/>
                </a:path>
              </a:pathLst>
            </a:custGeom>
            <a:solidFill>
              <a:srgbClr val="0C1226">
                <a:alpha val="35686"/>
              </a:srgbClr>
            </a:solid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962084" y="6726879"/>
            <a:ext cx="552450" cy="95250"/>
            <a:chOff x="0" y="0"/>
            <a:chExt cx="736600" cy="1270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736600" cy="127000"/>
            </a:xfrm>
            <a:custGeom>
              <a:avLst/>
              <a:gdLst/>
              <a:ahLst/>
              <a:cxnLst/>
              <a:rect r="r" b="b" t="t" l="l"/>
              <a:pathLst>
                <a:path h="127000" w="736600">
                  <a:moveTo>
                    <a:pt x="0" y="0"/>
                  </a:moveTo>
                  <a:lnTo>
                    <a:pt x="736600" y="0"/>
                  </a:lnTo>
                  <a:lnTo>
                    <a:pt x="7366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658895" y="6667500"/>
            <a:ext cx="2802655" cy="209550"/>
            <a:chOff x="0" y="0"/>
            <a:chExt cx="3736873" cy="279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36875" cy="279400"/>
            </a:xfrm>
            <a:custGeom>
              <a:avLst/>
              <a:gdLst/>
              <a:ahLst/>
              <a:cxnLst/>
              <a:rect r="r" b="b" t="t" l="l"/>
              <a:pathLst>
                <a:path h="279400" w="3736875">
                  <a:moveTo>
                    <a:pt x="0" y="0"/>
                  </a:moveTo>
                  <a:lnTo>
                    <a:pt x="3736875" y="0"/>
                  </a:lnTo>
                  <a:lnTo>
                    <a:pt x="3736875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605" r="0" b="-21060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736873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63"/>
                </a:lnSpc>
              </a:pPr>
              <a:r>
                <a:rPr lang="en-US" b="true" sz="1220" spc="341">
                  <a:solidFill>
                    <a:srgbClr val="8B93A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GAGNEZ DU TEMPS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0964018" y="7007866"/>
            <a:ext cx="7760684" cy="63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CDD0DE"/>
                </a:solidFill>
                <a:latin typeface="Arimo"/>
                <a:ea typeface="Arimo"/>
                <a:cs typeface="Arimo"/>
                <a:sym typeface="Arimo"/>
              </a:rPr>
              <a:t>Une analyse instantanée, sans aucune expertise technique</a:t>
            </a:r>
          </a:p>
          <a:p>
            <a:pPr algn="l">
              <a:lnSpc>
                <a:spcPts val="2336"/>
              </a:lnSpc>
            </a:pPr>
            <a:r>
              <a:rPr lang="en-US" sz="1700">
                <a:solidFill>
                  <a:srgbClr val="CDD0DE"/>
                </a:solidFill>
                <a:latin typeface="Arimo"/>
                <a:ea typeface="Arimo"/>
                <a:cs typeface="Arimo"/>
                <a:sym typeface="Arimo"/>
              </a:rPr>
              <a:t>requise.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097156" y="9109024"/>
            <a:ext cx="19148327" cy="466725"/>
            <a:chOff x="0" y="0"/>
            <a:chExt cx="25531102" cy="6223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531107" cy="622299"/>
            </a:xfrm>
            <a:custGeom>
              <a:avLst/>
              <a:gdLst/>
              <a:ahLst/>
              <a:cxnLst/>
              <a:rect r="r" b="b" t="t" l="l"/>
              <a:pathLst>
                <a:path h="622299" w="25531107">
                  <a:moveTo>
                    <a:pt x="0" y="0"/>
                  </a:moveTo>
                  <a:lnTo>
                    <a:pt x="25531107" y="0"/>
                  </a:lnTo>
                  <a:lnTo>
                    <a:pt x="25531107" y="622299"/>
                  </a:lnTo>
                  <a:lnTo>
                    <a:pt x="0" y="6222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9414" r="0" b="-74941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5531102" cy="631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spc="-71">
                  <a:solidFill>
                    <a:srgbClr val="EEF2FF"/>
                  </a:solidFill>
                  <a:latin typeface="Arimo"/>
                  <a:ea typeface="Arimo"/>
                  <a:cs typeface="Arimo"/>
                  <a:sym typeface="Arimo"/>
                </a:rPr>
                <a:t>Chaque avis client est une opportunité d'amélioration.</a:t>
              </a:r>
              <a:r>
                <a:rPr lang="en-US" b="true" sz="2879" spc="-71">
                  <a:solidFill>
                    <a:srgbClr val="4F7C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DarijaInsight vous aide à la saisir.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90393" y="6801669"/>
            <a:ext cx="9029700" cy="1600200"/>
            <a:chOff x="0" y="0"/>
            <a:chExt cx="12039600" cy="2133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0396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2039600">
                  <a:moveTo>
                    <a:pt x="0" y="204470"/>
                  </a:moveTo>
                  <a:cubicBezTo>
                    <a:pt x="0" y="91567"/>
                    <a:pt x="91567" y="0"/>
                    <a:pt x="204470" y="0"/>
                  </a:cubicBezTo>
                  <a:lnTo>
                    <a:pt x="11835130" y="0"/>
                  </a:lnTo>
                  <a:cubicBezTo>
                    <a:pt x="11948033" y="0"/>
                    <a:pt x="12039600" y="91567"/>
                    <a:pt x="12039600" y="204470"/>
                  </a:cubicBezTo>
                  <a:lnTo>
                    <a:pt x="12039600" y="1929130"/>
                  </a:lnTo>
                  <a:cubicBezTo>
                    <a:pt x="12039600" y="2042033"/>
                    <a:pt x="11948033" y="2133600"/>
                    <a:pt x="11835130" y="2133600"/>
                  </a:cubicBezTo>
                  <a:lnTo>
                    <a:pt x="204470" y="2133600"/>
                  </a:lnTo>
                  <a:cubicBezTo>
                    <a:pt x="91567" y="2133600"/>
                    <a:pt x="0" y="2042033"/>
                    <a:pt x="0" y="192913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51" r="0" b="-59951"/>
              </a:stretch>
            </a:blipFill>
            <a:ln w="9526" cap="sq">
              <a:solidFill>
                <a:srgbClr val="507CFF"/>
              </a:solidFill>
              <a:prstDash val="solid"/>
              <a:miter/>
            </a:ln>
          </p:spPr>
        </p:sp>
      </p:grpSp>
      <p:sp>
        <p:nvSpPr>
          <p:cNvPr name="Freeform 77" id="77" descr="preencoded.png"/>
          <p:cNvSpPr/>
          <p:nvPr/>
        </p:nvSpPr>
        <p:spPr>
          <a:xfrm flipH="false" flipV="false" rot="0">
            <a:off x="10673582" y="2215010"/>
            <a:ext cx="6505575" cy="352425"/>
          </a:xfrm>
          <a:custGeom>
            <a:avLst/>
            <a:gdLst/>
            <a:ahLst/>
            <a:cxnLst/>
            <a:rect r="r" b="b" t="t" l="l"/>
            <a:pathLst>
              <a:path h="352425" w="6505575">
                <a:moveTo>
                  <a:pt x="0" y="0"/>
                </a:moveTo>
                <a:lnTo>
                  <a:pt x="6505575" y="0"/>
                </a:lnTo>
                <a:lnTo>
                  <a:pt x="650557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75" r="0" b="-1275"/>
            </a:stretch>
          </a:blipFill>
        </p:spPr>
      </p:sp>
      <p:sp>
        <p:nvSpPr>
          <p:cNvPr name="Freeform 78" id="78" descr="preencoded.png"/>
          <p:cNvSpPr/>
          <p:nvPr/>
        </p:nvSpPr>
        <p:spPr>
          <a:xfrm flipH="false" flipV="false" rot="0">
            <a:off x="1095375" y="8812263"/>
            <a:ext cx="16097250" cy="752475"/>
          </a:xfrm>
          <a:custGeom>
            <a:avLst/>
            <a:gdLst/>
            <a:ahLst/>
            <a:cxnLst/>
            <a:rect r="r" b="b" t="t" l="l"/>
            <a:pathLst>
              <a:path h="752475" w="16097250">
                <a:moveTo>
                  <a:pt x="0" y="0"/>
                </a:moveTo>
                <a:lnTo>
                  <a:pt x="16097250" y="0"/>
                </a:lnTo>
                <a:lnTo>
                  <a:pt x="1609725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02" r="0" b="-60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DAHNtnRKO3g</dc:identifier>
  <dcterms:modified xsi:type="dcterms:W3CDTF">2011-08-01T06:04:30Z</dcterms:modified>
  <cp:revision>1</cp:revision>
  <dc:title>Présentation_DarijaInsight</dc:title>
</cp:coreProperties>
</file>